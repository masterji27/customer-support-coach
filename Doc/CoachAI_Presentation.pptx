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1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INFOSYS  ·  FINAL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Calibri Light"/>
              </a:rPr>
              <a:t>CoachAI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22D3EE"/>
                </a:solidFill>
                <a:latin typeface="Calibri Light"/>
              </a:rPr>
              <a:t>Development of AI-Powered Customer Support Assistant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22D3EE"/>
                </a:solidFill>
                <a:latin typeface="Calibri Light"/>
              </a:rPr>
              <a:t>with Live Response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977639"/>
            <a:ext cx="2011680" cy="279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251960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9CADC8"/>
                </a:solidFill>
                <a:latin typeface="Calibri"/>
              </a:rPr>
              <a:t>A multi-agent AI coaching cockpit that analyzes every customer message in real time — sentiment, intent, knowledge-base article, best reply, and escalation risk.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CoachAI  |  AI-Powered Customer Support Assistant with Live Response Guidance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 Light"/>
              </a:rPr>
              <a:t>Objective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98480" cy="17780"/>
          </a:xfrm>
          <a:prstGeom prst="rect">
            <a:avLst/>
          </a:prstGeom>
          <a:solidFill>
            <a:srgbClr val="4B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Real-time coaching</a:t>
            </a:r>
            <a:r>
              <a:rPr sz="1500">
                <a:solidFill>
                  <a:srgbClr val="9CADC8"/>
                </a:solidFill>
                <a:latin typeface="Calibri"/>
              </a:rPr>
              <a:t>  —  AI copilot advises agents during live chats — before they hit send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Reduce escalations &amp; churn</a:t>
            </a:r>
            <a:r>
              <a:rPr sz="1500">
                <a:solidFill>
                  <a:srgbClr val="9CADC8"/>
                </a:solidFill>
                <a:latin typeface="Calibri"/>
              </a:rPr>
              <a:t>  —  detect frustration, CSAT risk and defection signals early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Standardize quality</a:t>
            </a:r>
            <a:r>
              <a:rPr sz="1500">
                <a:solidFill>
                  <a:srgbClr val="9CADC8"/>
                </a:solidFill>
                <a:latin typeface="Calibri"/>
              </a:rPr>
              <a:t>  —  consistent, policy-compliant replies for every agent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On-the-job training</a:t>
            </a:r>
            <a:r>
              <a:rPr sz="1500">
                <a:solidFill>
                  <a:srgbClr val="9CADC8"/>
                </a:solidFill>
                <a:latin typeface="Calibri"/>
              </a:rPr>
              <a:t>  —  practice modes + post-session performance reports without supervisor overhead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103120"/>
            <a:ext cx="5074920" cy="17780"/>
          </a:xfrm>
          <a:prstGeom prst="rect">
            <a:avLst/>
          </a:prstGeom>
          <a:solidFill>
            <a:srgbClr val="4B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233172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IN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97480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10B981"/>
                </a:solidFill>
                <a:latin typeface="Calibri"/>
              </a:rPr>
              <a:t>▪  </a:t>
            </a:r>
            <a:r>
              <a:rPr sz="1350" b="1">
                <a:solidFill>
                  <a:srgbClr val="FFFFFF"/>
                </a:solidFill>
                <a:latin typeface="Calibri"/>
              </a:rPr>
              <a:t>Live coaching console</a:t>
            </a:r>
            <a:r>
              <a:rPr sz="1350">
                <a:solidFill>
                  <a:srgbClr val="9CADC8"/>
                </a:solidFill>
                <a:latin typeface="Calibri"/>
              </a:rPr>
              <a:t>  —  signals, KB, reply, risk — per turn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10B981"/>
                </a:solidFill>
                <a:latin typeface="Calibri"/>
              </a:rPr>
              <a:t>▪  </a:t>
            </a:r>
            <a:r>
              <a:rPr sz="1350" b="1">
                <a:solidFill>
                  <a:srgbClr val="FFFFFF"/>
                </a:solidFill>
                <a:latin typeface="Calibri"/>
              </a:rPr>
              <a:t>25+ specialized AI agents</a:t>
            </a:r>
            <a:r>
              <a:rPr sz="1350">
                <a:solidFill>
                  <a:srgbClr val="9CADC8"/>
                </a:solidFill>
                <a:latin typeface="Calibri"/>
              </a:rPr>
              <a:t>  —  one responsibility each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10B981"/>
                </a:solidFill>
                <a:latin typeface="Calibri"/>
              </a:rPr>
              <a:t>▪  </a:t>
            </a:r>
            <a:r>
              <a:rPr sz="1350" b="1">
                <a:solidFill>
                  <a:srgbClr val="FFFFFF"/>
                </a:solidFill>
                <a:latin typeface="Calibri"/>
              </a:rPr>
              <a:t>RAG knowledge base</a:t>
            </a:r>
            <a:r>
              <a:rPr sz="1350">
                <a:solidFill>
                  <a:srgbClr val="9CADC8"/>
                </a:solidFill>
                <a:latin typeface="Calibri"/>
              </a:rPr>
              <a:t>  —  hybrid semantic + keyword search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10B981"/>
                </a:solidFill>
                <a:latin typeface="Calibri"/>
              </a:rPr>
              <a:t>▪  </a:t>
            </a:r>
            <a:r>
              <a:rPr sz="1350" b="1">
                <a:solidFill>
                  <a:srgbClr val="FFFFFF"/>
                </a:solidFill>
                <a:latin typeface="Calibri"/>
              </a:rPr>
              <a:t>Agentic integrations</a:t>
            </a:r>
            <a:r>
              <a:rPr sz="1350">
                <a:solidFill>
                  <a:srgbClr val="9CADC8"/>
                </a:solidFill>
                <a:latin typeface="Calibri"/>
              </a:rPr>
              <a:t>  —  Jira, Gmail, Slack via Composio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10B981"/>
                </a:solidFill>
                <a:latin typeface="Calibri"/>
              </a:rPr>
              <a:t>▪  </a:t>
            </a:r>
            <a:r>
              <a:rPr sz="1350" b="1">
                <a:solidFill>
                  <a:srgbClr val="FFFFFF"/>
                </a:solidFill>
                <a:latin typeface="Calibri"/>
              </a:rPr>
              <a:t>Analytics, reports &amp; gamified training</a:t>
            </a:r>
            <a:r>
              <a:rPr sz="1350">
                <a:solidFill>
                  <a:srgbClr val="9CADC8"/>
                </a:solidFill>
                <a:latin typeface="Calibri"/>
              </a:rPr>
              <a:t>  —  Survival Mode, Hall of Fame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70916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Calibri"/>
              </a:rP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074920"/>
            <a:ext cx="5074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10B981"/>
                </a:solidFill>
                <a:latin typeface="Calibri"/>
              </a:rPr>
              <a:t>▪  </a:t>
            </a:r>
            <a:r>
              <a:rPr sz="1350" b="1">
                <a:solidFill>
                  <a:srgbClr val="FFFFFF"/>
                </a:solidFill>
                <a:latin typeface="Calibri"/>
              </a:rPr>
              <a:t>Production telephony / CRM integration</a:t>
            </a:r>
            <a:r>
              <a:rPr sz="1350">
                <a:solidFill>
                  <a:srgbClr val="9CADC8"/>
                </a:solidFill>
                <a:latin typeface="Calibri"/>
              </a:rPr>
              <a:t>  —  demo-scale product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10B981"/>
                </a:solidFill>
                <a:latin typeface="Calibri"/>
              </a:rPr>
              <a:t>▪  </a:t>
            </a:r>
            <a:r>
              <a:rPr sz="1350" b="1">
                <a:solidFill>
                  <a:srgbClr val="FFFFFF"/>
                </a:solidFill>
                <a:latin typeface="Calibri"/>
              </a:rPr>
              <a:t>Full multilingual support</a:t>
            </a:r>
            <a:r>
              <a:rPr sz="1350">
                <a:solidFill>
                  <a:srgbClr val="9CADC8"/>
                </a:solidFill>
                <a:latin typeface="Calibri"/>
              </a:rPr>
              <a:t>  —  Hinglish simulator demo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CoachAI  |  AI-Powered Customer Support Assistant with Live Response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 Light"/>
              </a:rPr>
              <a:t>Existing Solution vs 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98480" cy="17780"/>
          </a:xfrm>
          <a:prstGeom prst="rect">
            <a:avLst/>
          </a:prstGeom>
          <a:solidFill>
            <a:srgbClr val="4B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EXISTING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349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F5A623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Reactive QA</a:t>
            </a:r>
            <a:r>
              <a:rPr sz="1500">
                <a:solidFill>
                  <a:srgbClr val="9CADC8"/>
                </a:solidFill>
                <a:latin typeface="Calibri"/>
              </a:rPr>
              <a:t>  —  random post-call sampling, feedback arrives days later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F5A623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Manual knowledge lookup</a:t>
            </a:r>
            <a:r>
              <a:rPr sz="1500">
                <a:solidFill>
                  <a:srgbClr val="9CADC8"/>
                </a:solidFill>
                <a:latin typeface="Calibri"/>
              </a:rPr>
              <a:t>  —  agents search scattered docs mid-chat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F5A623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Escalation discovered too late</a:t>
            </a:r>
            <a:r>
              <a:rPr sz="1500">
                <a:solidFill>
                  <a:srgbClr val="9CADC8"/>
                </a:solidFill>
                <a:latin typeface="Calibri"/>
              </a:rPr>
              <a:t>  —  manager joins after customer is angry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F5A623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Inconsistent replies</a:t>
            </a:r>
            <a:r>
              <a:rPr sz="1500">
                <a:solidFill>
                  <a:srgbClr val="9CADC8"/>
                </a:solidFill>
                <a:latin typeface="Calibri"/>
              </a:rPr>
              <a:t>  —  quality depends on the individual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WHAT WE ARE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Proactive, per-turn coaching</a:t>
            </a:r>
            <a:r>
              <a:rPr sz="1500">
                <a:solidFill>
                  <a:srgbClr val="9CADC8"/>
                </a:solidFill>
                <a:latin typeface="Calibri"/>
              </a:rPr>
              <a:t>  —  analysis completes in under a second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Auto KB retrieval</a:t>
            </a:r>
            <a:r>
              <a:rPr sz="1500">
                <a:solidFill>
                  <a:srgbClr val="9CADC8"/>
                </a:solidFill>
                <a:latin typeface="Calibri"/>
              </a:rPr>
              <a:t>  —  right article + synthesized tip per message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Predictive risk signals</a:t>
            </a:r>
            <a:r>
              <a:rPr sz="1500">
                <a:solidFill>
                  <a:srgbClr val="9CADC8"/>
                </a:solidFill>
                <a:latin typeface="Calibri"/>
              </a:rPr>
              <a:t>  —  CSAT, churn, fraud, viral/PR — before escalation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Post-session reports</a:t>
            </a:r>
            <a:r>
              <a:rPr sz="1500">
                <a:solidFill>
                  <a:srgbClr val="9CADC8"/>
                </a:solidFill>
                <a:latin typeface="Calibri"/>
              </a:rPr>
              <a:t>  —  score, gaps and coaching tips emailed automatically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PAIN POINT BEING SOLVED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892040"/>
            <a:ext cx="10652760" cy="105156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“Coaching after the call is too late. Coach in the moment: every message analyzed by 25+ agents — reply guidance, risk alerts and policy compliance delivered before the agent sends.”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CoachAI  |  AI-Powered Customer Support Assistant with Live Response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 Light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98480" cy="17780"/>
          </a:xfrm>
          <a:prstGeom prst="rect">
            <a:avLst/>
          </a:prstGeom>
          <a:solidFill>
            <a:srgbClr val="4B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TECHNOLOGIES &amp; FRAMEWORKS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52760" cy="475488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240280"/>
            <a:ext cx="7269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React 18 + Vite + Tailwind CSS · deployed on Vercel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65475"/>
            <a:ext cx="10652760" cy="475488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756915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756915"/>
            <a:ext cx="7269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Node.js + Express (current API) · Python FastAPI + Streamlit (research stack)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182110"/>
            <a:ext cx="10652760" cy="475488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27355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LLM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273550"/>
            <a:ext cx="7269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Azure OpenAI (primary) → OpenRouter free models → Groq (llama-3.3-70b)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98745"/>
            <a:ext cx="10652760" cy="475488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790185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Multi-Agent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790185"/>
            <a:ext cx="7269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25+ specialized agents, fixed per-turn pipeline + parallel deep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215380"/>
            <a:ext cx="10652760" cy="475488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30682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306820"/>
            <a:ext cx="7269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Hybrid retrieval — OpenRouter embeddings + BM25 keyword fallback · 19+ FAQ docs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32015"/>
            <a:ext cx="10652760" cy="475488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823455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823455"/>
            <a:ext cx="7269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PostgreSQL (JSONB) with SQLite fallback · session rehydration across instances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248650"/>
            <a:ext cx="10652760" cy="475488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34009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Integrations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5340090"/>
            <a:ext cx="7269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Composio — real Jira tickets, Gmail refund emails, Slack alerts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765285"/>
            <a:ext cx="10652760" cy="475488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856725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Tooling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5856725"/>
            <a:ext cx="7269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Pydantic models · SQLAlchemy · pytest / vitest / node --test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CoachAI  |  AI-Powered Customer Support Assistant with Live Response Guidance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 Light"/>
              </a:rPr>
              <a:t>Feature 1 — Live Coaching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0B981"/>
                </a:solidFill>
                <a:latin typeface="Calibri"/>
              </a:rPr>
              <a:t>Multi-agent real-time analysis while the customer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0698480" cy="17780"/>
          </a:xfrm>
          <a:prstGeom prst="rect">
            <a:avLst/>
          </a:prstGeom>
          <a:solidFill>
            <a:srgbClr val="4B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Per-turn analysis &lt; 0.5s</a:t>
            </a:r>
            <a:r>
              <a:rPr sz="1550">
                <a:solidFill>
                  <a:srgbClr val="9CADC8"/>
                </a:solidFill>
                <a:latin typeface="Calibri"/>
              </a:rPr>
              <a:t>  —  intent, sentiment, frustration %, satisfaction trend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Reply guidance</a:t>
            </a:r>
            <a:r>
              <a:rPr sz="1550">
                <a:solidFill>
                  <a:srgbClr val="9CADC8"/>
                </a:solidFill>
                <a:latin typeface="Calibri"/>
              </a:rPr>
              <a:t>  —  suggested reply + tone / clarity / quality scoring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Risk cockpit</a:t>
            </a:r>
            <a:r>
              <a:rPr sz="1550">
                <a:solidFill>
                  <a:srgbClr val="9CADC8"/>
                </a:solidFill>
                <a:latin typeface="Calibri"/>
              </a:rPr>
              <a:t>  —  escalation %, predicted CSAT, churn %, viral/PR, fraud risk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Mind-reader</a:t>
            </a:r>
            <a:r>
              <a:rPr sz="1550">
                <a:solidFill>
                  <a:srgbClr val="9CADC8"/>
                </a:solidFill>
                <a:latin typeface="Calibri"/>
              </a:rPr>
              <a:t>  —  true intent and internal monologue of the customer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Multiverse simulator</a:t>
            </a:r>
            <a:r>
              <a:rPr sz="1550">
                <a:solidFill>
                  <a:srgbClr val="9CADC8"/>
                </a:solidFill>
                <a:latin typeface="Calibri"/>
              </a:rPr>
              <a:t>  —  3 “what-if” replies with predicted outcomes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2148840"/>
            <a:ext cx="4892040" cy="379476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23774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Calibri"/>
              </a:rPr>
              <a:t>MANAGER OVERRIDE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74320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▪  </a:t>
            </a:r>
            <a:r>
              <a:rPr sz="1400" b="1">
                <a:solidFill>
                  <a:srgbClr val="FFFFFF"/>
                </a:solidFill>
                <a:latin typeface="Calibri"/>
              </a:rPr>
              <a:t>Manager whisper</a:t>
            </a:r>
            <a:r>
              <a:rPr sz="1400">
                <a:solidFill>
                  <a:srgbClr val="9CADC8"/>
                </a:solidFill>
                <a:latin typeface="Calibri"/>
              </a:rPr>
              <a:t>  —  context-aware advice injected mid-chat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▪  </a:t>
            </a:r>
            <a:r>
              <a:rPr sz="1400" b="1">
                <a:solidFill>
                  <a:srgbClr val="FFFFFF"/>
                </a:solidFill>
                <a:latin typeface="Calibri"/>
              </a:rPr>
              <a:t>Manager takeover</a:t>
            </a:r>
            <a:r>
              <a:rPr sz="1400">
                <a:solidFill>
                  <a:srgbClr val="9CADC8"/>
                </a:solidFill>
                <a:latin typeface="Calibri"/>
              </a:rPr>
              <a:t>  —  scripted handover when risk crosses threshold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▪  </a:t>
            </a:r>
            <a:r>
              <a:rPr sz="1400" b="1">
                <a:solidFill>
                  <a:srgbClr val="FFFFFF"/>
                </a:solidFill>
                <a:latin typeface="Calibri"/>
              </a:rPr>
              <a:t>Auto-Pilot</a:t>
            </a:r>
            <a:r>
              <a:rPr sz="1400">
                <a:solidFill>
                  <a:srgbClr val="9CADC8"/>
                </a:solidFill>
                <a:latin typeface="Calibri"/>
              </a:rPr>
              <a:t>  —  one-click autonomous reply + backend action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▪  </a:t>
            </a:r>
            <a:r>
              <a:rPr sz="1400" b="1">
                <a:solidFill>
                  <a:srgbClr val="FFFFFF"/>
                </a:solidFill>
                <a:latin typeface="Calibri"/>
              </a:rPr>
              <a:t>Compliance monitor</a:t>
            </a:r>
            <a:r>
              <a:rPr sz="1400">
                <a:solidFill>
                  <a:srgbClr val="9CADC8"/>
                </a:solidFill>
                <a:latin typeface="Calibri"/>
              </a:rPr>
              <a:t>  —  flags promises/words that contradict KB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CoachAI  |  AI-Powered Customer Support Assistant with Live Response Guidance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 Light"/>
              </a:rPr>
              <a:t>Feature 2 — Intelligent Knowledge Base (RAG)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0B981"/>
                </a:solidFill>
                <a:latin typeface="Calibri"/>
              </a:rPr>
              <a:t>Retrieval-Augmented Generation over the support KB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0698480" cy="17780"/>
          </a:xfrm>
          <a:prstGeom prst="rect">
            <a:avLst/>
          </a:prstGeom>
          <a:solidFill>
            <a:srgbClr val="4B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Multi-format ingestion</a:t>
            </a:r>
            <a:r>
              <a:rPr sz="1550">
                <a:solidFill>
                  <a:srgbClr val="9CADC8"/>
                </a:solidFill>
                <a:latin typeface="Calibri"/>
              </a:rPr>
              <a:t>  —  txt, PDF, DOCX, JSON, MD, CSV, HTML → 512-char chunks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Hybrid retrieval</a:t>
            </a:r>
            <a:r>
              <a:rPr sz="1550">
                <a:solidFill>
                  <a:srgbClr val="9CADC8"/>
                </a:solidFill>
                <a:latin typeface="Calibri"/>
              </a:rPr>
              <a:t>  —  semantic embeddings + BM25 keyword fallback (works offline)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Agentic RAG synthesis</a:t>
            </a:r>
            <a:r>
              <a:rPr sz="1550">
                <a:solidFill>
                  <a:srgbClr val="9CADC8"/>
                </a:solidFill>
                <a:latin typeface="Calibri"/>
              </a:rPr>
              <a:t>  —  one distilled coaching tip per customer message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Auto KB-gap detection</a:t>
            </a:r>
            <a:r>
              <a:rPr sz="1550">
                <a:solidFill>
                  <a:srgbClr val="9CADC8"/>
                </a:solidFill>
                <a:latin typeface="Calibri"/>
              </a:rPr>
              <a:t>  —  low relevance → flagged gap → auto-drafted FAQ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19+ demo FAQs</a:t>
            </a:r>
            <a:r>
              <a:rPr sz="1550">
                <a:solidFill>
                  <a:srgbClr val="9CADC8"/>
                </a:solidFill>
                <a:latin typeface="Calibri"/>
              </a:rPr>
              <a:t>  —  payment, refund, delivery, GST, UPI, API/webhook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2148840"/>
            <a:ext cx="4892040" cy="379476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23774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ADMIN &amp;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74320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▪  </a:t>
            </a:r>
            <a:r>
              <a:rPr sz="1400" b="1">
                <a:solidFill>
                  <a:srgbClr val="FFFFFF"/>
                </a:solidFill>
                <a:latin typeface="Calibri"/>
              </a:rPr>
              <a:t>KB admin tabs</a:t>
            </a:r>
            <a:r>
              <a:rPr sz="1400">
                <a:solidFill>
                  <a:srgbClr val="9CADC8"/>
                </a:solidFill>
                <a:latin typeface="Calibri"/>
              </a:rPr>
              <a:t>  —  search debugger, index new docs, chunking simulator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▪  </a:t>
            </a:r>
            <a:r>
              <a:rPr sz="1400" b="1">
                <a:solidFill>
                  <a:srgbClr val="FFFFFF"/>
                </a:solidFill>
                <a:latin typeface="Calibri"/>
              </a:rPr>
              <a:t>Tone rewriter</a:t>
            </a:r>
            <a:r>
              <a:rPr sz="1400">
                <a:solidFill>
                  <a:srgbClr val="9CADC8"/>
                </a:solidFill>
                <a:latin typeface="Calibri"/>
              </a:rPr>
              <a:t>  —  polishes a rough agent draft into an empathetic reply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▪  </a:t>
            </a:r>
            <a:r>
              <a:rPr sz="1400" b="1">
                <a:solidFill>
                  <a:srgbClr val="FFFFFF"/>
                </a:solidFill>
                <a:latin typeface="Calibri"/>
              </a:rPr>
              <a:t>Compliance audit</a:t>
            </a:r>
            <a:r>
              <a:rPr sz="1400">
                <a:solidFill>
                  <a:srgbClr val="9CADC8"/>
                </a:solidFill>
                <a:latin typeface="Calibri"/>
              </a:rPr>
              <a:t>  —  ISO-style pass/fail checks on replies vs KB policy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▪  </a:t>
            </a:r>
            <a:r>
              <a:rPr sz="1400" b="1">
                <a:solidFill>
                  <a:srgbClr val="FFFFFF"/>
                </a:solidFill>
                <a:latin typeface="Calibri"/>
              </a:rPr>
              <a:t>Auto-KB agent</a:t>
            </a:r>
            <a:r>
              <a:rPr sz="1400">
                <a:solidFill>
                  <a:srgbClr val="9CADC8"/>
                </a:solidFill>
                <a:latin typeface="Calibri"/>
              </a:rPr>
              <a:t>  —  writes draft FAQ to pending/ for human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CoachAI  |  AI-Powered Customer Support Assistant with Live Response Guidance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 Light"/>
              </a:rPr>
              <a:t>Feature 3 — Agentic Tools &amp; Training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0B981"/>
                </a:solidFill>
                <a:latin typeface="Calibri"/>
              </a:rPr>
              <a:t>Real integrations and gamified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0698480" cy="17780"/>
          </a:xfrm>
          <a:prstGeom prst="rect">
            <a:avLst/>
          </a:prstGeom>
          <a:solidFill>
            <a:srgbClr val="4B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Auto-Pilot actions</a:t>
            </a:r>
            <a:r>
              <a:rPr sz="1550">
                <a:solidFill>
                  <a:srgbClr val="9CADC8"/>
                </a:solidFill>
                <a:latin typeface="Calibri"/>
              </a:rPr>
              <a:t>  —  process refund, grant voucher — with approval guardrails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Real integrations (Composio)</a:t>
            </a:r>
            <a:r>
              <a:rPr sz="1550">
                <a:solidFill>
                  <a:srgbClr val="9CADC8"/>
                </a:solidFill>
                <a:latin typeface="Calibri"/>
              </a:rPr>
              <a:t>  —  Jira bug tickets, Gmail refund emails, Slack alerts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Jira bug generator</a:t>
            </a:r>
            <a:r>
              <a:rPr sz="1550">
                <a:solidFill>
                  <a:srgbClr val="9CADC8"/>
                </a:solidFill>
                <a:latin typeface="Calibri"/>
              </a:rPr>
              <a:t>  —  transcript → structured ticket (summary, priority, type)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Survival Mode</a:t>
            </a:r>
            <a:r>
              <a:rPr sz="1550">
                <a:solidFill>
                  <a:srgbClr val="9CADC8"/>
                </a:solidFill>
                <a:latin typeface="Calibri"/>
              </a:rPr>
              <a:t>  —  arcade multi-ticket training with score, streak &amp; power-ups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>
                <a:solidFill>
                  <a:srgbClr val="10B981"/>
                </a:solidFill>
                <a:latin typeface="Calibri"/>
              </a:rPr>
              <a:t>▪  </a:t>
            </a:r>
            <a:r>
              <a:rPr sz="1550" b="1">
                <a:solidFill>
                  <a:srgbClr val="FFFFFF"/>
                </a:solidFill>
                <a:latin typeface="Calibri"/>
              </a:rPr>
              <a:t>3 interaction modes</a:t>
            </a:r>
            <a:r>
              <a:rPr sz="1550">
                <a:solidFill>
                  <a:srgbClr val="9CADC8"/>
                </a:solidFill>
                <a:latin typeface="Calibri"/>
              </a:rPr>
              <a:t>  —  AI Simulator (Hinglish customer), Manual, Transcript Replay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2148840"/>
            <a:ext cx="4892040" cy="379476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23774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REPORTS &amp;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74320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▪  </a:t>
            </a:r>
            <a:r>
              <a:rPr sz="1400" b="1">
                <a:solidFill>
                  <a:srgbClr val="FFFFFF"/>
                </a:solidFill>
                <a:latin typeface="Calibri"/>
              </a:rPr>
              <a:t>Post-session performance report</a:t>
            </a:r>
            <a:r>
              <a:rPr sz="1400">
                <a:solidFill>
                  <a:srgbClr val="9CADC8"/>
                </a:solidFill>
                <a:latin typeface="Calibri"/>
              </a:rPr>
              <a:t>  —  resolution score, sentiment journey, coaching tips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▪  </a:t>
            </a:r>
            <a:r>
              <a:rPr sz="1400" b="1">
                <a:solidFill>
                  <a:srgbClr val="FFFFFF"/>
                </a:solidFill>
                <a:latin typeface="Calibri"/>
              </a:rPr>
              <a:t>Auto email</a:t>
            </a:r>
            <a:r>
              <a:rPr sz="1400">
                <a:solidFill>
                  <a:srgbClr val="9CADC8"/>
                </a:solidFill>
                <a:latin typeface="Calibri"/>
              </a:rPr>
              <a:t>  —  report delivered to the agent’s inbox at session end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▪  </a:t>
            </a:r>
            <a:r>
              <a:rPr sz="1400" b="1">
                <a:solidFill>
                  <a:srgbClr val="FFFFFF"/>
                </a:solidFill>
                <a:latin typeface="Calibri"/>
              </a:rPr>
              <a:t>Hall of Fame / Shame</a:t>
            </a:r>
            <a:r>
              <a:rPr sz="1400">
                <a:solidFill>
                  <a:srgbClr val="9CADC8"/>
                </a:solidFill>
                <a:latin typeface="Calibri"/>
              </a:rPr>
              <a:t>  —  best and worst sessions archived for training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▪  </a:t>
            </a:r>
            <a:r>
              <a:rPr sz="1400" b="1">
                <a:solidFill>
                  <a:srgbClr val="FFFFFF"/>
                </a:solidFill>
                <a:latin typeface="Calibri"/>
              </a:rPr>
              <a:t>Cross-session analytics</a:t>
            </a:r>
            <a:r>
              <a:rPr sz="1400">
                <a:solidFill>
                  <a:srgbClr val="9CADC8"/>
                </a:solidFill>
                <a:latin typeface="Calibri"/>
              </a:rPr>
              <a:t>  —  trends, top escalation triggers, knowledge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CoachAI  |  AI-Powered Customer Support Assistant with Live Response Guidance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 Light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98480" cy="17780"/>
          </a:xfrm>
          <a:prstGeom prst="rect">
            <a:avLst/>
          </a:prstGeom>
          <a:solidFill>
            <a:srgbClr val="4B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FUTURE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F5A623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Vector DB at scale</a:t>
            </a:r>
            <a:r>
              <a:rPr sz="1500">
                <a:solidFill>
                  <a:srgbClr val="9CADC8"/>
                </a:solidFill>
                <a:latin typeface="Calibri"/>
              </a:rPr>
              <a:t>  —  persist embeddings (pgvector) for large KBs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F5A623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Single canonical backend</a:t>
            </a:r>
            <a:r>
              <a:rPr sz="1500">
                <a:solidFill>
                  <a:srgbClr val="9CADC8"/>
                </a:solidFill>
                <a:latin typeface="Calibri"/>
              </a:rPr>
              <a:t>  —  merge Node &amp; Python into one API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F5A623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Voice &amp; multilingual</a:t>
            </a:r>
            <a:r>
              <a:rPr sz="1500">
                <a:solidFill>
                  <a:srgbClr val="9CADC8"/>
                </a:solidFill>
                <a:latin typeface="Calibri"/>
              </a:rPr>
              <a:t>  —  telephony coaching, full language support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F5A623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Team gamification</a:t>
            </a:r>
            <a:r>
              <a:rPr sz="1500">
                <a:solidFill>
                  <a:srgbClr val="9CADC8"/>
                </a:solidFill>
                <a:latin typeface="Calibri"/>
              </a:rPr>
              <a:t>  —  leaderboards, upskilling paths for managers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KEY TAKEAWAYS / LEARNINGS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End-to-end product</a:t>
            </a:r>
            <a:r>
              <a:rPr sz="1500">
                <a:solidFill>
                  <a:srgbClr val="9CADC8"/>
                </a:solidFill>
                <a:latin typeface="Calibri"/>
              </a:rPr>
              <a:t>  —  multi-agent system built, deployed and demo-ready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Prompt engineering</a:t>
            </a:r>
            <a:r>
              <a:rPr sz="1500">
                <a:solidFill>
                  <a:srgbClr val="9CADC8"/>
                </a:solidFill>
                <a:latin typeface="Calibri"/>
              </a:rPr>
              <a:t>  —  every agent driven by a central system-prompt repository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Resilience by design</a:t>
            </a:r>
            <a:r>
              <a:rPr sz="1500">
                <a:solidFill>
                  <a:srgbClr val="9CADC8"/>
                </a:solidFill>
                <a:latin typeface="Calibri"/>
              </a:rPr>
              <a:t>  —  LLM fallback chains — app never crashes without keys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10B981"/>
                </a:solidFill>
                <a:latin typeface="Calibri"/>
              </a:rPr>
              <a:t>▪  </a:t>
            </a:r>
            <a:r>
              <a:rPr sz="1500" b="1">
                <a:solidFill>
                  <a:srgbClr val="FFFFFF"/>
                </a:solidFill>
                <a:latin typeface="Calibri"/>
              </a:rPr>
              <a:t>Orchestration patterns</a:t>
            </a:r>
            <a:r>
              <a:rPr sz="1500">
                <a:solidFill>
                  <a:srgbClr val="9CADC8"/>
                </a:solidFill>
                <a:latin typeface="Calibri"/>
              </a:rPr>
              <a:t>  —  parallel agents, calibrators, supervisors, session rehydration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CoachAI  |  AI-Powered Customer Support Assistant with Live Response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Calibri Light"/>
              </a:rPr>
              <a:t>System Prompts &amp; Key Concepts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98480" cy="17780"/>
          </a:xfrm>
          <a:prstGeom prst="rect">
            <a:avLst/>
          </a:prstGeom>
          <a:solidFill>
            <a:srgbClr val="4B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SYSTEM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349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>
                <a:solidFill>
                  <a:srgbClr val="10B981"/>
                </a:solidFill>
                <a:latin typeface="Calibri"/>
              </a:rPr>
              <a:t>▪  </a:t>
            </a:r>
            <a:r>
              <a:rPr sz="1450" b="1">
                <a:solidFill>
                  <a:srgbClr val="FFFFFF"/>
                </a:solidFill>
                <a:latin typeface="Calibri"/>
              </a:rPr>
              <a:t>Central prompt repository</a:t>
            </a:r>
            <a:r>
              <a:rPr sz="1450">
                <a:solidFill>
                  <a:srgbClr val="9CADC8"/>
                </a:solidFill>
                <a:latin typeface="Calibri"/>
              </a:rPr>
              <a:t>  —  src/core/prompts.py — single source of truth for all 25+ agents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>
                <a:solidFill>
                  <a:srgbClr val="10B981"/>
                </a:solidFill>
                <a:latin typeface="Calibri"/>
              </a:rPr>
              <a:t>▪  </a:t>
            </a:r>
            <a:r>
              <a:rPr sz="1450" b="1">
                <a:solidFill>
                  <a:srgbClr val="FFFFFF"/>
                </a:solidFill>
                <a:latin typeface="Calibri"/>
              </a:rPr>
              <a:t>Builder functions</a:t>
            </a:r>
            <a:r>
              <a:rPr sz="1450">
                <a:solidFill>
                  <a:srgbClr val="9CADC8"/>
                </a:solidFill>
                <a:latin typeface="Calibri"/>
              </a:rPr>
              <a:t>  —  persona, sentiment and KB context injected per turn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>
                <a:solidFill>
                  <a:srgbClr val="10B981"/>
                </a:solidFill>
                <a:latin typeface="Calibri"/>
              </a:rPr>
              <a:t>▪  </a:t>
            </a:r>
            <a:r>
              <a:rPr sz="1450" b="1">
                <a:solidFill>
                  <a:srgbClr val="FFFFFF"/>
                </a:solidFill>
                <a:latin typeface="Calibri"/>
              </a:rPr>
              <a:t>JSON output contracts</a:t>
            </a:r>
            <a:r>
              <a:rPr sz="1450">
                <a:solidFill>
                  <a:srgbClr val="9CADC8"/>
                </a:solidFill>
                <a:latin typeface="Calibri"/>
              </a:rPr>
              <a:t>  —  structured parsing with hard-coded fallbacks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MULTI-AGENT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074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>
                <a:solidFill>
                  <a:srgbClr val="10B981"/>
                </a:solidFill>
                <a:latin typeface="Calibri"/>
              </a:rPr>
              <a:t>▪  </a:t>
            </a:r>
            <a:r>
              <a:rPr sz="1450" b="1">
                <a:solidFill>
                  <a:srgbClr val="FFFFFF"/>
                </a:solidFill>
                <a:latin typeface="Calibri"/>
              </a:rPr>
              <a:t>One agent = one responsibility</a:t>
            </a:r>
            <a:r>
              <a:rPr sz="1450">
                <a:solidFill>
                  <a:srgbClr val="9CADC8"/>
                </a:solidFill>
                <a:latin typeface="Calibri"/>
              </a:rPr>
              <a:t>  —  simulator, classifier, coach, monitor, auditor…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>
                <a:solidFill>
                  <a:srgbClr val="10B981"/>
                </a:solidFill>
                <a:latin typeface="Calibri"/>
              </a:rPr>
              <a:t>▪  </a:t>
            </a:r>
            <a:r>
              <a:rPr sz="1450" b="1">
                <a:solidFill>
                  <a:srgbClr val="FFFFFF"/>
                </a:solidFill>
                <a:latin typeface="Calibri"/>
              </a:rPr>
              <a:t>Fixed pipeline + parallelism</a:t>
            </a:r>
            <a:r>
              <a:rPr sz="1450">
                <a:solidFill>
                  <a:srgbClr val="9CADC8"/>
                </a:solidFill>
                <a:latin typeface="Calibri"/>
              </a:rPr>
              <a:t>  —  intent &amp; deep signals run concurrently per turn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>
                <a:solidFill>
                  <a:srgbClr val="10B981"/>
                </a:solidFill>
                <a:latin typeface="Calibri"/>
              </a:rPr>
              <a:t>▪  </a:t>
            </a:r>
            <a:r>
              <a:rPr sz="1450" b="1">
                <a:solidFill>
                  <a:srgbClr val="FFFFFF"/>
                </a:solidFill>
                <a:latin typeface="Calibri"/>
              </a:rPr>
              <a:t>Adaptive agents</a:t>
            </a:r>
            <a:r>
              <a:rPr sz="1450">
                <a:solidFill>
                  <a:srgbClr val="9CADC8"/>
                </a:solidFill>
                <a:latin typeface="Calibri"/>
              </a:rPr>
              <a:t>  —  calibrator learns when to show tips; supervisor escalates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OTHER IMPORTANT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10652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>
                <a:solidFill>
                  <a:srgbClr val="22D3EE"/>
                </a:solidFill>
                <a:latin typeface="Calibri"/>
              </a:rPr>
              <a:t>▪  </a:t>
            </a:r>
            <a:r>
              <a:rPr sz="1450" b="1">
                <a:solidFill>
                  <a:srgbClr val="FFFFFF"/>
                </a:solidFill>
                <a:latin typeface="Calibri"/>
              </a:rPr>
              <a:t>RAG pipeline</a:t>
            </a:r>
            <a:r>
              <a:rPr sz="1450">
                <a:solidFill>
                  <a:srgbClr val="9CADC8"/>
                </a:solidFill>
                <a:latin typeface="Calibri"/>
              </a:rPr>
              <a:t>  —  ingestion → hybrid retrieval → LLM synthesis — with graceful degradation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>
                <a:solidFill>
                  <a:srgbClr val="22D3EE"/>
                </a:solidFill>
                <a:latin typeface="Calibri"/>
              </a:rPr>
              <a:t>▪  </a:t>
            </a:r>
            <a:r>
              <a:rPr sz="1450" b="1">
                <a:solidFill>
                  <a:srgbClr val="FFFFFF"/>
                </a:solidFill>
                <a:latin typeface="Calibri"/>
              </a:rPr>
              <a:t>LLM provider strategy</a:t>
            </a:r>
            <a:r>
              <a:rPr sz="1450">
                <a:solidFill>
                  <a:srgbClr val="9CADC8"/>
                </a:solidFill>
                <a:latin typeface="Calibri"/>
              </a:rPr>
              <a:t>  —  Azure → OpenRouter → Groq fallback chain, race-winner pattern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>
                <a:solidFill>
                  <a:srgbClr val="22D3EE"/>
                </a:solidFill>
                <a:latin typeface="Calibri"/>
              </a:rPr>
              <a:t>▪  </a:t>
            </a:r>
            <a:r>
              <a:rPr sz="1450" b="1">
                <a:solidFill>
                  <a:srgbClr val="FFFFFF"/>
                </a:solidFill>
                <a:latin typeface="Calibri"/>
              </a:rPr>
              <a:t>Serverless persistence</a:t>
            </a:r>
            <a:r>
              <a:rPr sz="1450">
                <a:solidFill>
                  <a:srgbClr val="9CADC8"/>
                </a:solidFill>
                <a:latin typeface="Calibri"/>
              </a:rPr>
              <a:t>  —  full session state rehydrated from Postgres across cold instances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CoachAI  |  AI-Powered Customer Support Assistant with Live Response Guidance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1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3208" y="3200400"/>
            <a:ext cx="2011680" cy="279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22D3EE"/>
                </a:solidFill>
                <a:latin typeface="Calibri Light"/>
              </a:rPr>
              <a:t>Questions &amp;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CADC8"/>
                </a:solidFill>
                <a:latin typeface="Calibri"/>
              </a:rPr>
              <a:t>GitHub Repository:  https://github.com/MasterJi27/coachai-infosys-final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8348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CADC8"/>
                </a:solidFill>
                <a:latin typeface="Calibri"/>
              </a:rPr>
              <a:t>Live Demo:  CoachAI — AI-Powered Customer Support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CoachAI  |  AI-Powered Customer Support Assistant with Live Response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4B556B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1274</Words>
  <Application>Microsoft Office PowerPoint</Application>
  <PresentationFormat>Widescreen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Raghav Kathuria</cp:lastModifiedBy>
  <cp:revision>2</cp:revision>
  <dcterms:created xsi:type="dcterms:W3CDTF">2013-01-27T09:14:16Z</dcterms:created>
  <dcterms:modified xsi:type="dcterms:W3CDTF">2026-08-19T14:51:04Z</dcterms:modified>
  <cp:category/>
</cp:coreProperties>
</file>